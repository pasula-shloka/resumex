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C7293">
              <a:alpha val="4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640080" y="594360"/>
            <a:ext cx="960120" cy="9601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5" name="Image 0" descr="robot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509" y="824789"/>
            <a:ext cx="499262" cy="49926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78308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FE4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STRUCTURES AND ALGORITHMS PROJECT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148840"/>
            <a:ext cx="96012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 Resume Screening System</a:t>
            </a:r>
            <a:endParaRPr lang="en-US" sz="4200" dirty="0"/>
          </a:p>
        </p:txBody>
      </p:sp>
      <p:sp>
        <p:nvSpPr>
          <p:cNvPr id="8" name="Shape 5"/>
          <p:cNvSpPr/>
          <p:nvPr/>
        </p:nvSpPr>
        <p:spPr>
          <a:xfrm>
            <a:off x="658368" y="3520440"/>
            <a:ext cx="118872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3886200"/>
            <a:ext cx="5806440" cy="2331720"/>
          </a:xfrm>
          <a:prstGeom prst="roundRect">
            <a:avLst>
              <a:gd name="adj" fmla="val 392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4041648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FE4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4370832"/>
            <a:ext cx="5394960" cy="1783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2500030017  –  Suhaanthi Reddy</a:t>
            </a:r>
            <a:endParaRPr lang="en-US" sz="13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2510030025  –  Shloka Reddy</a:t>
            </a:r>
            <a:endParaRPr lang="en-US" sz="13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2510030128  –  Hansikha Reddy</a:t>
            </a:r>
            <a:endParaRPr lang="en-US" sz="13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2510030107  –  Spoorthy Reddy</a:t>
            </a:r>
            <a:endParaRPr lang="en-US" sz="13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2510030312  –  Dhana Lakshmi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720840" y="3886200"/>
            <a:ext cx="4828032" cy="2331720"/>
          </a:xfrm>
          <a:prstGeom prst="roundRect">
            <a:avLst>
              <a:gd name="adj" fmla="val 3922"/>
            </a:avLst>
          </a:prstGeom>
          <a:solidFill>
            <a:srgbClr val="065A82">
              <a:alpha val="80000"/>
            </a:srgbClr>
          </a:solidFill>
        </p:spPr>
      </p:sp>
      <p:sp>
        <p:nvSpPr>
          <p:cNvPr id="13" name="Text 10"/>
          <p:cNvSpPr txBox="1"/>
          <p:nvPr/>
        </p:nvSpPr>
        <p:spPr>
          <a:xfrm>
            <a:off x="6995160" y="4096512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FE4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995160" y="4370832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KLH University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995160" y="507492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FE4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SUBJECT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995160" y="5349240"/>
            <a:ext cx="4297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Structures and Algorithms (DSA)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658368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Novelty of Developed Methodology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45720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A6B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6382512"/>
            <a:ext cx="10908792" cy="18288"/>
          </a:xfrm>
          <a:prstGeom prst="rect">
            <a:avLst/>
          </a:prstGeom>
          <a:solidFill>
            <a:srgbClr val="CFE4EE"/>
          </a:solidFill>
        </p:spPr>
      </p:sp>
      <p:sp>
        <p:nvSpPr>
          <p:cNvPr id="6" name="Shape 4"/>
          <p:cNvSpPr/>
          <p:nvPr/>
        </p:nvSpPr>
        <p:spPr>
          <a:xfrm>
            <a:off x="640080" y="1691640"/>
            <a:ext cx="3429000" cy="41605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FE4EE"/>
            </a:solidFill>
            <a:prstDash val="solid"/>
          </a:ln>
          <a:effectLst>
            <a:outerShdw blurRad="101600" dist="381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97380" y="2103120"/>
            <a:ext cx="914400" cy="91440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8" name="Image 0" descr="layers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8548" y="2304288"/>
            <a:ext cx="512064" cy="5120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96112" y="3200400"/>
            <a:ext cx="2916936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600" b="1">
                <a:solidFill>
                  <a:srgbClr val="21295C"/>
                </a:solidFill>
                <a:latin typeface="Calibri"/>
              </a:rPr>
              <a:t>Multi-Technique DSA Fusion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932688" y="3931920"/>
            <a:ext cx="2843784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150" b="0">
                <a:solidFill>
                  <a:srgbClr val="5A6B79"/>
                </a:solidFill>
                <a:latin typeface="Calibri"/>
              </a:rPr>
              <a:t>Combines 6 classical algorithms (KMP, Levenshtein, Needleman-Wunsch, Suffix Arrays, SHA-256, Greedy) for deterministic, explainable scoring—eliminating GenAI black-box hallucinations.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79976" y="1691640"/>
            <a:ext cx="3429000" cy="41605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FE4EE"/>
            </a:solidFill>
            <a:prstDash val="solid"/>
          </a:ln>
          <a:effectLst>
            <a:outerShdw blurRad="101600" dist="381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37276" y="2103120"/>
            <a:ext cx="914400" cy="9144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3" name="Image 1" descr="search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8444" y="2304288"/>
            <a:ext cx="512064" cy="5120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636008" y="3200400"/>
            <a:ext cx="2916936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600" b="1">
                <a:solidFill>
                  <a:srgbClr val="21295C"/>
                </a:solidFill>
                <a:latin typeface="Calibri"/>
              </a:rPr>
              <a:t>Exact &amp; Alignment Algorithms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4672584" y="3931920"/>
            <a:ext cx="2843784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150" b="0">
                <a:solidFill>
                  <a:srgbClr val="5A6B79"/>
                </a:solidFill>
                <a:latin typeface="Calibri"/>
              </a:rPr>
              <a:t>KMP O(N+M) matching extracts mandatory skills with zero backtracking. Levenshtein DP O(N×M) tolerates typos and aliases. Needleman-Wunsch DP aligns career sequence progression.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19872" y="1691640"/>
            <a:ext cx="3429000" cy="41605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FE4EE"/>
            </a:solidFill>
            <a:prstDash val="solid"/>
          </a:ln>
          <a:effectLst>
            <a:outerShdw blurRad="101600" dist="381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377172" y="2103120"/>
            <a:ext cx="914400" cy="91440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18" name="Image 2" descr="sitema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8340" y="2304288"/>
            <a:ext cx="512064" cy="5120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75904" y="3200400"/>
            <a:ext cx="2916936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600" b="1">
                <a:solidFill>
                  <a:srgbClr val="21295C"/>
                </a:solidFill>
                <a:latin typeface="Calibri"/>
              </a:rPr>
              <a:t>Hashing &amp; Greedy Optimization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8412480" y="3931920"/>
            <a:ext cx="2843784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150" b="0">
                <a:solidFill>
                  <a:srgbClr val="5A6B79"/>
                </a:solidFill>
                <a:latin typeface="Calibri"/>
              </a:rPr>
              <a:t>SHA-256 hashing instantly rejects duplicate resumes in O(1) time without re-parsing. Kasai's LCP finds deep multi-word collocations. Greedy set-cover optimizes candidate qualification density.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658368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Adaptability of Methodology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45720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A6B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6382512"/>
            <a:ext cx="10908792" cy="18288"/>
          </a:xfrm>
          <a:prstGeom prst="rect">
            <a:avLst/>
          </a:prstGeom>
          <a:solidFill>
            <a:srgbClr val="CFE4EE"/>
          </a:solidFill>
        </p:spPr>
      </p:sp>
      <p:sp>
        <p:nvSpPr>
          <p:cNvPr id="6" name="Shape 4"/>
          <p:cNvSpPr/>
          <p:nvPr/>
        </p:nvSpPr>
        <p:spPr>
          <a:xfrm>
            <a:off x="640080" y="187452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065A82"/>
          </a:solidFill>
        </p:spPr>
      </p:sp>
      <p:sp>
        <p:nvSpPr>
          <p:cNvPr id="7" name="Text 5"/>
          <p:cNvSpPr txBox="1"/>
          <p:nvPr/>
        </p:nvSpPr>
        <p:spPr>
          <a:xfrm>
            <a:off x="640080" y="187452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901952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50" b="0">
                <a:solidFill>
                  <a:srgbClr val="1B2430"/>
                </a:solidFill>
                <a:latin typeface="Calibri"/>
              </a:rPr>
              <a:t>Dynamic Multi-Role Weights: Mathematically tunable weight matrix (w_k) adapts seamlessly to any technical role (Backend, Full-Stack, ML, DevOps) without code alterations.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1C7293"/>
          </a:solidFill>
        </p:spPr>
      </p:sp>
      <p:sp>
        <p:nvSpPr>
          <p:cNvPr id="10" name="Text 8"/>
          <p:cNvSpPr txBox="1"/>
          <p:nvPr/>
        </p:nvSpPr>
        <p:spPr>
          <a:xfrm>
            <a:off x="640080" y="283464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862072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50" b="0">
                <a:solidFill>
                  <a:srgbClr val="1B2430"/>
                </a:solidFill>
                <a:latin typeface="Calibri"/>
              </a:rPr>
              <a:t>In-Memory Streaming PDF Ingestion: Apache PDFBox 3.0.8 extracts multi-page PDF resumes directly in RAM with zero disk persistence, preserving applicant PII privacy.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065A82"/>
          </a:solidFill>
        </p:spPr>
      </p:sp>
      <p:sp>
        <p:nvSpPr>
          <p:cNvPr id="13" name="Text 11"/>
          <p:cNvSpPr txBox="1"/>
          <p:nvPr/>
        </p:nvSpPr>
        <p:spPr>
          <a:xfrm>
            <a:off x="640080" y="37947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822192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50" b="0">
                <a:solidFill>
                  <a:srgbClr val="1B2430"/>
                </a:solidFill>
                <a:latin typeface="Calibri"/>
              </a:rPr>
              <a:t>Decoupled Full-Stack Architecture: High-performance Java SE 17 backend with REST API guarantees sub-50ms execution, scaling effortlessly to large enterprise applicant pools.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475488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1C7293"/>
          </a:solidFill>
        </p:spPr>
      </p:sp>
      <p:sp>
        <p:nvSpPr>
          <p:cNvPr id="16" name="Text 14"/>
          <p:cNvSpPr txBox="1"/>
          <p:nvPr/>
        </p:nvSpPr>
        <p:spPr>
          <a:xfrm>
            <a:off x="640080" y="475488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782312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50" b="0">
                <a:solidFill>
                  <a:srgbClr val="1B2430"/>
                </a:solidFill>
                <a:latin typeface="Calibri"/>
              </a:rPr>
              <a:t>Extensible Hybrid Pipeline: Modular design ready for seamless integration with Aho-Corasick multi-trie pattern search, Tesseract OCR scans, and transformer semantic embeddings.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537960" y="1691640"/>
            <a:ext cx="5029200" cy="4434840"/>
          </a:xfrm>
          <a:prstGeom prst="roundRect">
            <a:avLst>
              <a:gd name="adj" fmla="val 2887"/>
            </a:avLst>
          </a:prstGeom>
          <a:solidFill>
            <a:srgbClr val="21295C"/>
          </a:solidFill>
        </p:spPr>
      </p:sp>
      <p:sp>
        <p:nvSpPr>
          <p:cNvPr id="19" name="Shape 17"/>
          <p:cNvSpPr/>
          <p:nvPr/>
        </p:nvSpPr>
        <p:spPr>
          <a:xfrm>
            <a:off x="8595360" y="2057400"/>
            <a:ext cx="914400" cy="9144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0" name="Image 0" descr="sync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6528" y="2258568"/>
            <a:ext cx="512064" cy="512064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6812280" y="306324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Built to Grow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6995160" y="352044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FE4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core matching engine, many possible deployments.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812280" y="4160520"/>
            <a:ext cx="1719072" cy="457200"/>
          </a:xfrm>
          <a:prstGeom prst="roundRect">
            <a:avLst>
              <a:gd name="adj" fmla="val 50000"/>
            </a:avLst>
          </a:prstGeom>
          <a:solidFill>
            <a:srgbClr val="1C7293">
              <a:alpha val="85000"/>
            </a:srgbClr>
          </a:solidFill>
        </p:spPr>
      </p:sp>
      <p:sp>
        <p:nvSpPr>
          <p:cNvPr id="24" name="Text 21"/>
          <p:cNvSpPr txBox="1"/>
          <p:nvPr/>
        </p:nvSpPr>
        <p:spPr>
          <a:xfrm>
            <a:off x="6812280" y="4160520"/>
            <a:ext cx="17190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 Industry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8695944" y="4160520"/>
            <a:ext cx="1719072" cy="457200"/>
          </a:xfrm>
          <a:prstGeom prst="roundRect">
            <a:avLst>
              <a:gd name="adj" fmla="val 50000"/>
            </a:avLst>
          </a:prstGeom>
          <a:solidFill>
            <a:srgbClr val="1C7293">
              <a:alpha val="85000"/>
            </a:srgbClr>
          </a:solidFill>
        </p:spPr>
      </p:sp>
      <p:sp>
        <p:nvSpPr>
          <p:cNvPr id="26" name="Text 23"/>
          <p:cNvSpPr txBox="1"/>
          <p:nvPr/>
        </p:nvSpPr>
        <p:spPr>
          <a:xfrm>
            <a:off x="8695944" y="4160520"/>
            <a:ext cx="17190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 Job Role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812280" y="4782312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1C7293">
              <a:alpha val="85000"/>
            </a:srgbClr>
          </a:solidFill>
        </p:spPr>
      </p:sp>
      <p:sp>
        <p:nvSpPr>
          <p:cNvPr id="28" name="Text 25"/>
          <p:cNvSpPr txBox="1"/>
          <p:nvPr/>
        </p:nvSpPr>
        <p:spPr>
          <a:xfrm>
            <a:off x="6812280" y="4782312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Multiple Formats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9079992" y="4782312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1C7293">
              <a:alpha val="85000"/>
            </a:srgbClr>
          </a:solidFill>
        </p:spPr>
      </p:sp>
      <p:sp>
        <p:nvSpPr>
          <p:cNvPr id="30" name="Text 27"/>
          <p:cNvSpPr txBox="1"/>
          <p:nvPr/>
        </p:nvSpPr>
        <p:spPr>
          <a:xfrm>
            <a:off x="9079992" y="4782312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Large-Scale Data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812280" y="5404104"/>
            <a:ext cx="1431036" cy="457200"/>
          </a:xfrm>
          <a:prstGeom prst="roundRect">
            <a:avLst>
              <a:gd name="adj" fmla="val 50000"/>
            </a:avLst>
          </a:prstGeom>
          <a:solidFill>
            <a:srgbClr val="1C7293">
              <a:alpha val="85000"/>
            </a:srgbClr>
          </a:solidFill>
        </p:spPr>
      </p:sp>
      <p:sp>
        <p:nvSpPr>
          <p:cNvPr id="32" name="Text 29"/>
          <p:cNvSpPr txBox="1"/>
          <p:nvPr/>
        </p:nvSpPr>
        <p:spPr>
          <a:xfrm>
            <a:off x="6812280" y="5404104"/>
            <a:ext cx="143103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NLP-Ready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21792" y="658368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Methodology Evaluation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45720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A6B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6382512"/>
            <a:ext cx="10908792" cy="18288"/>
          </a:xfrm>
          <a:prstGeom prst="rect">
            <a:avLst/>
          </a:prstGeom>
          <a:solidFill>
            <a:srgbClr val="CFE4EE"/>
          </a:solidFill>
        </p:spPr>
      </p:sp>
      <p:sp>
        <p:nvSpPr>
          <p:cNvPr id="6" name="Shape 4"/>
          <p:cNvSpPr/>
          <p:nvPr/>
        </p:nvSpPr>
        <p:spPr>
          <a:xfrm>
            <a:off x="640080" y="1783080"/>
            <a:ext cx="5230368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CFE4EE"/>
            </a:solidFill>
            <a:prstDash val="solid"/>
          </a:ln>
          <a:effectLst>
            <a:outerShdw blurRad="88900" dist="25400" dir="5400000" algn="bl" rotWithShape="0">
              <a:srgbClr val="9AAAB8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2286000"/>
            <a:ext cx="914400" cy="91440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8" name="Image 0" descr="chart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487168"/>
            <a:ext cx="512064" cy="5120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2057400" y="2039112"/>
            <a:ext cx="358444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solidFill>
                  <a:srgbClr val="21295C"/>
                </a:solidFill>
                <a:latin typeface="Calibri"/>
              </a:rPr>
              <a:t>Screening Accuracy &amp; Tiers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2057400" y="2496312"/>
            <a:ext cx="3584448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sz="1100" b="0">
                <a:solidFill>
                  <a:srgbClr val="5A6B79"/>
                </a:solidFill>
                <a:latin typeface="Calibri"/>
              </a:rPr>
              <a:t>Validated across 8 benchmark resumes: Senior engineers achieved 84.6% (Rahul) and 81.2% (Neha) in Shortlisted tier (&gt;80%), mid-tier scored 58-68%, and mismatched scored &lt;45%.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90488" y="1783080"/>
            <a:ext cx="5230368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CFE4EE"/>
            </a:solidFill>
            <a:prstDash val="solid"/>
          </a:ln>
          <a:effectLst>
            <a:outerShdw blurRad="88900" dist="25400" dir="5400000" algn="bl" rotWithShape="0">
              <a:srgbClr val="9AAAB8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46520" y="2286000"/>
            <a:ext cx="914400" cy="9144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3" name="Image 1" descr="sitema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2487168"/>
            <a:ext cx="512064" cy="5120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607808" y="2039112"/>
            <a:ext cx="358444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solidFill>
                  <a:srgbClr val="21295C"/>
                </a:solidFill>
                <a:latin typeface="Calibri"/>
              </a:rPr>
              <a:t>Instant Duplicate Detection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7607808" y="2496312"/>
            <a:ext cx="3584448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sz="1100" b="0">
                <a:solidFill>
                  <a:srgbClr val="5A6B79"/>
                </a:solidFill>
                <a:latin typeface="Calibri"/>
              </a:rPr>
              <a:t>100% duplicate detection precision via SHA-256 cryptographic hash collision within 0.8 ms, immediately rejecting resubmissions without downstream compute overhead.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0080" y="4023360"/>
            <a:ext cx="5230368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CFE4EE"/>
            </a:solidFill>
            <a:prstDash val="solid"/>
          </a:ln>
          <a:effectLst>
            <a:outerShdw blurRad="88900" dist="25400" dir="5400000" algn="bl" rotWithShape="0">
              <a:srgbClr val="9AAAB8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96112" y="4526280"/>
            <a:ext cx="914400" cy="9144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8" name="Image 2" descr="diagram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727448"/>
            <a:ext cx="512064" cy="5120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2057400" y="4279392"/>
            <a:ext cx="358444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solidFill>
                  <a:srgbClr val="21295C"/>
                </a:solidFill>
                <a:latin typeface="Calibri"/>
              </a:rPr>
              <a:t>Sub-50ms Runtime Latency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2057400" y="4736592"/>
            <a:ext cx="3584448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sz="1100" b="0">
                <a:solidFill>
                  <a:srgbClr val="5A6B79"/>
                </a:solidFill>
                <a:latin typeface="Calibri"/>
              </a:rPr>
              <a:t>Total pipeline latency from 12.2 ms (~500 words) to 49.6 ms (~4,000 words)—over 50x faster than cloud LLM APIs (2-5s), with zero cloud inference cost.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190488" y="4023360"/>
            <a:ext cx="5230368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CFE4EE"/>
            </a:solidFill>
            <a:prstDash val="solid"/>
          </a:ln>
          <a:effectLst>
            <a:outerShdw blurRad="88900" dist="25400" dir="5400000" algn="bl" rotWithShape="0">
              <a:srgbClr val="9AAAB8">
                <a:alpha val="3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46520" y="4526280"/>
            <a:ext cx="914400" cy="91440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23" name="Image 3" descr="has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4727448"/>
            <a:ext cx="512064" cy="5120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607808" y="4279392"/>
            <a:ext cx="358444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solidFill>
                  <a:srgbClr val="21295C"/>
                </a:solidFill>
                <a:latin typeface="Calibri"/>
              </a:rPr>
              <a:t>Algorithmic Complexity Rigor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7607808" y="4736592"/>
            <a:ext cx="3584448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sz="1100" b="0">
                <a:solidFill>
                  <a:srgbClr val="5A6B79"/>
                </a:solidFill>
                <a:latin typeface="Calibri"/>
              </a:rPr>
              <a:t>Linear KMP O(N+M), quadratic DP O(N×M), linear Kasai LCP O(N), and Suffix Array O(N log² N) guarantee deterministic execution and predictable memory bounds.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21295C"/>
          </a:solidFill>
        </p:spPr>
      </p:sp>
      <p:sp>
        <p:nvSpPr>
          <p:cNvPr id="3" name="Shape 1"/>
          <p:cNvSpPr/>
          <p:nvPr/>
        </p:nvSpPr>
        <p:spPr>
          <a:xfrm>
            <a:off x="9052560" y="5120640"/>
            <a:ext cx="4023360" cy="4023360"/>
          </a:xfrm>
          <a:prstGeom prst="ellipse">
            <a:avLst/>
          </a:prstGeom>
          <a:solidFill>
            <a:srgbClr val="1C7293">
              <a:alpha val="4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9464040" y="2651760"/>
            <a:ext cx="1554480" cy="155448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5" name="Image 0" descr="share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2660" y="3040380"/>
            <a:ext cx="777240" cy="777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0" y="4434840"/>
            <a:ext cx="35661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Open &amp;</a:t>
            </a:r>
            <a:endParaRPr lang="en-US" sz="2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Accessible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1148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658368"/>
            <a:ext cx="69494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Dissemination and Accessibility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640080" y="1874520"/>
            <a:ext cx="566928" cy="566928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10" name="Image 1" descr="robo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" y="201625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1847088"/>
            <a:ext cx="6172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sz="1250" b="0">
                <a:solidFill>
                  <a:srgbClr val="1B2430"/>
                </a:solidFill>
                <a:latin typeface="Calibri"/>
              </a:rPr>
              <a:t>Interactive Full-Stack Web SPA: Responsive React 19 interface with real-time score breakdowns, keyword highlights, match tier badges, and instant resume analysis.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2953512"/>
            <a:ext cx="566928" cy="566928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13" name="Image 2" descr="diagram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3095244"/>
            <a:ext cx="283464" cy="28346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2926080"/>
            <a:ext cx="6172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sz="1250" b="0">
                <a:solidFill>
                  <a:srgbClr val="1B2430"/>
                </a:solidFill>
                <a:latin typeface="Calibri"/>
              </a:rPr>
              <a:t>Live Cloud Web Deployment: Publicly hosted and accessible 24/7 on GitHub Pages at: https://pasula-shloka.github.io/ResumeX/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40080" y="4032504"/>
            <a:ext cx="566928" cy="566928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16" name="Image 3" descr="githu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4174236"/>
            <a:ext cx="283464" cy="28346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17320" y="4005072"/>
            <a:ext cx="6172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sz="1250" b="0">
                <a:solidFill>
                  <a:srgbClr val="1B2430"/>
                </a:solidFill>
                <a:latin typeface="Calibri"/>
              </a:rPr>
              <a:t>Open-Source GitHub Repository: Complete Java SE 17 backend and React frontend source code published at: https://github.com/pasula-shloka/ResumeX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640080" y="5111496"/>
            <a:ext cx="566928" cy="566928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19" name="Image 4" descr="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5253228"/>
            <a:ext cx="283464" cy="28346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417320" y="5084064"/>
            <a:ext cx="6172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sz="1250" b="0">
                <a:solidFill>
                  <a:srgbClr val="1B2430"/>
                </a:solidFill>
                <a:latin typeface="Calibri"/>
              </a:rPr>
              <a:t>Reproducible Project Documentation: Comprehensive 15-page IEEE-standard PBL documentation, test candidate datasets, and execution guide for classroom &amp; industry use.</a:t>
            </a:r>
            <a:endParaRPr lang="en-US" sz="1350" dirty="0"/>
          </a:p>
        </p:txBody>
      </p:sp>
      <p:sp>
        <p:nvSpPr>
          <p:cNvPr id="21" name="Text Box 20"/>
          <p:cNvSpPr txBox="1"/>
          <p:nvPr/>
        </p:nvSpPr>
        <p:spPr>
          <a:xfrm>
            <a:off x="6373495" y="73513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937760" cy="4937760"/>
          </a:xfrm>
          <a:prstGeom prst="ellipse">
            <a:avLst/>
          </a:prstGeom>
          <a:solidFill>
            <a:srgbClr val="065A82">
              <a:alpha val="45000"/>
            </a:srgbClr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875520" y="3931920"/>
            <a:ext cx="4206240" cy="4206240"/>
          </a:xfrm>
          <a:prstGeom prst="ellipse">
            <a:avLst/>
          </a:prstGeom>
          <a:solidFill>
            <a:srgbClr val="1C7293">
              <a:alpha val="45000"/>
            </a:srgbClr>
          </a:solidFill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501488" y="1874520"/>
            <a:ext cx="1188720" cy="1188720"/>
          </a:xfrm>
          <a:prstGeom prst="ellipse">
            <a:avLst/>
          </a:prstGeom>
          <a:solidFill>
            <a:srgbClr val="1C7293"/>
          </a:solidFill>
        </p:spPr>
        <p:txBody>
          <a:bodyPr/>
          <a:p/>
        </p:txBody>
      </p:sp>
      <p:pic>
        <p:nvPicPr>
          <p:cNvPr id="5" name="Image 0" descr="check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6780" y="2159813"/>
            <a:ext cx="618134" cy="6181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0" y="3246120"/>
            <a:ext cx="12191695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0" y="4160520"/>
            <a:ext cx="1219169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kern="0" spc="100" dirty="0">
                <a:solidFill>
                  <a:srgbClr val="CFE4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&amp; Answers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0" y="626364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150" b="0">
                <a:solidFill>
                  <a:srgbClr val="CFE4EE"/>
                </a:solidFill>
                <a:latin typeface="Calibri"/>
              </a:rPr>
              <a:t>ResumeX: AI Resume Screening System  –  DSA Project  –  KLH University
Live Demo: https://pasula-shloka.github.io/ResumeX/  |  GitHub: https://github.com/pasula-shloka/ResumeX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1955</Words>
  <Application>WPS Presentation</Application>
  <PresentationFormat>On-screen Show (16:9)</PresentationFormat>
  <Paragraphs>109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spoorthy reddy</cp:lastModifiedBy>
  <cp:revision>2</cp:revision>
  <dcterms:created xsi:type="dcterms:W3CDTF">2026-09-17T15:43:00Z</dcterms:created>
  <dcterms:modified xsi:type="dcterms:W3CDTF">2026-09-17T15:49:18Z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2470A7BFD7184640904AD7FDF6C419FD_13</vt:lpwstr>
  </property>
  <property fmtid="{D5CDD505-2E9C-101B-9397-08002B2CF9AE}" pid="3" name="KSOProductBuildVer">
    <vt:lpwstr>1033-12.1.0.28485</vt:lpwstr>
  </property>
</Properties>
</file>