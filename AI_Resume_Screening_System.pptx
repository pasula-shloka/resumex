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4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5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463040"/>
            <a:ext cx="4754880" cy="475488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10607040" y="4206240"/>
            <a:ext cx="2926080" cy="2926080"/>
          </a:xfrm>
          <a:prstGeom prst="ellipse">
            <a:avLst/>
          </a:prstGeom>
          <a:solidFill>
            <a:srgbClr val="1C7293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640080" y="594360"/>
            <a:ext cx="960120" cy="9601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robo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0509" y="824789"/>
            <a:ext cx="499262" cy="49926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40080" y="1783080"/>
            <a:ext cx="777240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DATA STRUCTURES AND ALGORITHMS PROJECT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594360" y="2148840"/>
            <a:ext cx="9601200" cy="1371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AI Resume Screening System</a:t>
            </a:r>
            <a:endParaRPr lang="en-US" sz="4200" dirty="0"/>
          </a:p>
        </p:txBody>
      </p:sp>
      <p:sp>
        <p:nvSpPr>
          <p:cNvPr id="8" name="Shape 5"/>
          <p:cNvSpPr/>
          <p:nvPr/>
        </p:nvSpPr>
        <p:spPr>
          <a:xfrm>
            <a:off x="658368" y="3520440"/>
            <a:ext cx="118872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40080" y="3886200"/>
            <a:ext cx="5806440" cy="2331720"/>
          </a:xfrm>
          <a:prstGeom prst="roundRect">
            <a:avLst>
              <a:gd name="adj" fmla="val 3922"/>
            </a:avLst>
          </a:prstGeom>
          <a:solidFill>
            <a:srgbClr val="FFFFFF">
              <a:alpha val="4000"/>
            </a:srgbClr>
          </a:solidFill>
          <a:ln w="12700">
            <a:solidFill>
              <a:srgbClr val="1C7293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868680" y="4041648"/>
            <a:ext cx="36576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15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TEAM MEMBERS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868680" y="4370832"/>
            <a:ext cx="5394960" cy="1783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2500030017  –  Suhaanthi Reddy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2510030025  –  Shloka Reddy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2510030128  –  Hansikha Reddy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2510030107  –  Spoorthy Reddy</a:t>
            </a:r>
            <a:endParaRPr lang="en-US" sz="1350" dirty="0"/>
          </a:p>
          <a:p>
            <a:pPr marL="0" indent="0">
              <a:lnSpc>
                <a:spcPct val="132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2510030312  –  Dhana Lakshmi</a:t>
            </a:r>
            <a:endParaRPr lang="en-US" sz="1350" dirty="0"/>
          </a:p>
        </p:txBody>
      </p:sp>
      <p:sp>
        <p:nvSpPr>
          <p:cNvPr id="12" name="Shape 9"/>
          <p:cNvSpPr/>
          <p:nvPr/>
        </p:nvSpPr>
        <p:spPr>
          <a:xfrm>
            <a:off x="6720840" y="3886200"/>
            <a:ext cx="4828032" cy="2331720"/>
          </a:xfrm>
          <a:prstGeom prst="roundRect">
            <a:avLst>
              <a:gd name="adj" fmla="val 3922"/>
            </a:avLst>
          </a:prstGeom>
          <a:solidFill>
            <a:srgbClr val="065A82">
              <a:alpha val="80000"/>
            </a:srgbClr>
          </a:solidFill>
        </p:spPr>
      </p:sp>
      <p:sp>
        <p:nvSpPr>
          <p:cNvPr id="13" name="Text 10"/>
          <p:cNvSpPr txBox="1"/>
          <p:nvPr/>
        </p:nvSpPr>
        <p:spPr>
          <a:xfrm>
            <a:off x="6995160" y="4096512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DEPARTMENT</a:t>
            </a:r>
            <a:endParaRPr lang="en-US" sz="1100" dirty="0"/>
          </a:p>
        </p:txBody>
      </p:sp>
      <p:sp>
        <p:nvSpPr>
          <p:cNvPr id="14" name="Text 11"/>
          <p:cNvSpPr txBox="1"/>
          <p:nvPr/>
        </p:nvSpPr>
        <p:spPr>
          <a:xfrm>
            <a:off x="6995160" y="4370832"/>
            <a:ext cx="4297680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KLH University</a:t>
            </a:r>
            <a:endParaRPr lang="en-US" sz="1800" dirty="0"/>
          </a:p>
        </p:txBody>
      </p:sp>
      <p:sp>
        <p:nvSpPr>
          <p:cNvPr id="15" name="Text 12"/>
          <p:cNvSpPr txBox="1"/>
          <p:nvPr/>
        </p:nvSpPr>
        <p:spPr>
          <a:xfrm>
            <a:off x="6995160" y="5074920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SUBJECT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995160" y="5349240"/>
            <a:ext cx="429768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Data Structures and Algorithms (DSA)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Novelty of Developed Methodology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02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908792" cy="18288"/>
          </a:xfrm>
          <a:prstGeom prst="rect">
            <a:avLst/>
          </a:prstGeom>
          <a:solidFill>
            <a:srgbClr val="CFE4EE"/>
          </a:solidFill>
        </p:spPr>
      </p:sp>
      <p:sp>
        <p:nvSpPr>
          <p:cNvPr id="6" name="Shape 4"/>
          <p:cNvSpPr/>
          <p:nvPr/>
        </p:nvSpPr>
        <p:spPr>
          <a:xfrm>
            <a:off x="640080" y="16916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101600" dist="381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897380" y="2103120"/>
            <a:ext cx="914400" cy="9144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8" name="Image 0" descr="layers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98548" y="2304288"/>
            <a:ext cx="512064" cy="5120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896112" y="3200400"/>
            <a:ext cx="291693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Multi-Technique Fusion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932688" y="3931920"/>
            <a:ext cx="284378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Combines multiple DSA techniques together for accurate, reliable resume-to-job matching rather than relying on a single method.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4379976" y="16916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101600" dist="381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637276" y="210312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1" descr="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38444" y="230428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636008" y="3200400"/>
            <a:ext cx="291693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Exact + Approximate Matching</a:t>
            </a:r>
            <a:endParaRPr lang="en-US" sz="1700" dirty="0"/>
          </a:p>
        </p:txBody>
      </p:sp>
      <p:sp>
        <p:nvSpPr>
          <p:cNvPr id="15" name="Text 11"/>
          <p:cNvSpPr txBox="1"/>
          <p:nvPr/>
        </p:nvSpPr>
        <p:spPr>
          <a:xfrm>
            <a:off x="4672584" y="3931920"/>
            <a:ext cx="284378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Uses exact string matching, approximate (fuzzy) matching, and hashing to catch both precise and near-miss skill matches.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8119872" y="1691640"/>
            <a:ext cx="3429000" cy="416052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101600" dist="38100" dir="5400000" algn="bl" rotWithShape="0">
              <a:srgbClr val="9AAAB8">
                <a:alpha val="35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9377172" y="2103120"/>
            <a:ext cx="914400" cy="9144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8" name="Image 2" descr="sitemap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8340" y="230428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8375904" y="3200400"/>
            <a:ext cx="2916936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Ranking &amp; Duplicate Detection</a:t>
            </a:r>
            <a:endParaRPr lang="en-US" sz="1700" dirty="0"/>
          </a:p>
        </p:txBody>
      </p:sp>
      <p:sp>
        <p:nvSpPr>
          <p:cNvPr id="20" name="Text 15"/>
          <p:cNvSpPr txBox="1"/>
          <p:nvPr/>
        </p:nvSpPr>
        <p:spPr>
          <a:xfrm>
            <a:off x="8412480" y="3931920"/>
            <a:ext cx="2843784" cy="17373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25000"/>
              </a:lnSpc>
              <a:buNone/>
            </a:pPr>
            <a:r>
              <a:rPr lang="en-US" sz="1250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Integrates resume ranking, skill matching, and duplicate detection into a single unified screening pipeline.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11480"/>
            <a:ext cx="73152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21792" y="658368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Adaptability of Methodology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03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908792" cy="18288"/>
          </a:xfrm>
          <a:prstGeom prst="rect">
            <a:avLst/>
          </a:prstGeom>
          <a:solidFill>
            <a:srgbClr val="CFE4EE"/>
          </a:solidFill>
        </p:spPr>
      </p:sp>
      <p:sp>
        <p:nvSpPr>
          <p:cNvPr id="6" name="Shape 4"/>
          <p:cNvSpPr/>
          <p:nvPr/>
        </p:nvSpPr>
        <p:spPr>
          <a:xfrm>
            <a:off x="640080" y="18745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5A82"/>
          </a:solidFill>
        </p:spPr>
      </p:sp>
      <p:sp>
        <p:nvSpPr>
          <p:cNvPr id="7" name="Text 5"/>
          <p:cNvSpPr txBox="1"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0195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Adaptable to different industries and job roles</a:t>
            </a:r>
            <a:endParaRPr lang="en-US" sz="1450" dirty="0"/>
          </a:p>
        </p:txBody>
      </p:sp>
      <p:sp>
        <p:nvSpPr>
          <p:cNvPr id="9" name="Shape 7"/>
          <p:cNvSpPr/>
          <p:nvPr/>
        </p:nvSpPr>
        <p:spPr>
          <a:xfrm>
            <a:off x="640080" y="283464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C7293"/>
          </a:solidFill>
        </p:spPr>
      </p:sp>
      <p:sp>
        <p:nvSpPr>
          <p:cNvPr id="10" name="Text 8"/>
          <p:cNvSpPr txBox="1"/>
          <p:nvPr/>
        </p:nvSpPr>
        <p:spPr>
          <a:xfrm>
            <a:off x="640080" y="283464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2</a:t>
            </a:r>
            <a:endParaRPr lang="en-US" sz="2000" dirty="0"/>
          </a:p>
        </p:txBody>
      </p:sp>
      <p:sp>
        <p:nvSpPr>
          <p:cNvPr id="11" name="Text 9"/>
          <p:cNvSpPr txBox="1"/>
          <p:nvPr/>
        </p:nvSpPr>
        <p:spPr>
          <a:xfrm>
            <a:off x="1417320" y="286207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Supports various resume formats and job descriptions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065A82"/>
          </a:solidFill>
        </p:spPr>
      </p:sp>
      <p:sp>
        <p:nvSpPr>
          <p:cNvPr id="13" name="Text 11"/>
          <p:cNvSpPr txBox="1"/>
          <p:nvPr/>
        </p:nvSpPr>
        <p:spPr>
          <a:xfrm>
            <a:off x="640080" y="379476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3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1417320" y="382219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Scalable for large resume databases</a:t>
            </a:r>
            <a:endParaRPr lang="en-US" sz="1450" dirty="0"/>
          </a:p>
        </p:txBody>
      </p:sp>
      <p:sp>
        <p:nvSpPr>
          <p:cNvPr id="15" name="Shape 13"/>
          <p:cNvSpPr/>
          <p:nvPr/>
        </p:nvSpPr>
        <p:spPr>
          <a:xfrm>
            <a:off x="640080" y="475488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1C7293"/>
          </a:solidFill>
        </p:spPr>
      </p:sp>
      <p:sp>
        <p:nvSpPr>
          <p:cNvPr id="16" name="Text 14"/>
          <p:cNvSpPr txBox="1"/>
          <p:nvPr/>
        </p:nvSpPr>
        <p:spPr>
          <a:xfrm>
            <a:off x="640080" y="4754880"/>
            <a:ext cx="566928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</a:t>
            </a:r>
            <a:endParaRPr lang="en-US" sz="2000" dirty="0"/>
          </a:p>
        </p:txBody>
      </p:sp>
      <p:sp>
        <p:nvSpPr>
          <p:cNvPr id="17" name="Text 15"/>
          <p:cNvSpPr txBox="1"/>
          <p:nvPr/>
        </p:nvSpPr>
        <p:spPr>
          <a:xfrm>
            <a:off x="1417320" y="4782312"/>
            <a:ext cx="470916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extended with NLP and AI techniques</a:t>
            </a:r>
            <a:endParaRPr lang="en-US" sz="1450" dirty="0"/>
          </a:p>
        </p:txBody>
      </p:sp>
      <p:sp>
        <p:nvSpPr>
          <p:cNvPr id="18" name="Shape 16"/>
          <p:cNvSpPr/>
          <p:nvPr/>
        </p:nvSpPr>
        <p:spPr>
          <a:xfrm>
            <a:off x="6537960" y="1691640"/>
            <a:ext cx="5029200" cy="4434840"/>
          </a:xfrm>
          <a:prstGeom prst="roundRect">
            <a:avLst>
              <a:gd name="adj" fmla="val 2887"/>
            </a:avLst>
          </a:prstGeom>
          <a:solidFill>
            <a:srgbClr val="21295C"/>
          </a:solidFill>
        </p:spPr>
      </p:sp>
      <p:sp>
        <p:nvSpPr>
          <p:cNvPr id="19" name="Shape 17"/>
          <p:cNvSpPr/>
          <p:nvPr/>
        </p:nvSpPr>
        <p:spPr>
          <a:xfrm>
            <a:off x="8595360" y="205740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20" name="Image 0" descr="sync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796528" y="2258568"/>
            <a:ext cx="512064" cy="512064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812280" y="3063240"/>
            <a:ext cx="448056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Built to Grow</a:t>
            </a:r>
            <a:endParaRPr lang="en-US" sz="1900" dirty="0"/>
          </a:p>
        </p:txBody>
      </p:sp>
      <p:sp>
        <p:nvSpPr>
          <p:cNvPr id="22" name="Text 19"/>
          <p:cNvSpPr txBox="1"/>
          <p:nvPr/>
        </p:nvSpPr>
        <p:spPr>
          <a:xfrm>
            <a:off x="6995160" y="3520440"/>
            <a:ext cx="411480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One core matching engine, many possible deployments.</a:t>
            </a:r>
            <a:endParaRPr lang="en-US" sz="1200" dirty="0"/>
          </a:p>
        </p:txBody>
      </p:sp>
      <p:sp>
        <p:nvSpPr>
          <p:cNvPr id="23" name="Shape 20"/>
          <p:cNvSpPr/>
          <p:nvPr/>
        </p:nvSpPr>
        <p:spPr>
          <a:xfrm>
            <a:off x="6812280" y="416052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24" name="Text 21"/>
          <p:cNvSpPr txBox="1"/>
          <p:nvPr/>
        </p:nvSpPr>
        <p:spPr>
          <a:xfrm>
            <a:off x="6812280" y="4160520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Industry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8695944" y="4160520"/>
            <a:ext cx="1719072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26" name="Text 23"/>
          <p:cNvSpPr txBox="1"/>
          <p:nvPr/>
        </p:nvSpPr>
        <p:spPr>
          <a:xfrm>
            <a:off x="8695944" y="4160520"/>
            <a:ext cx="1719072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Any Job Role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812280" y="478231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28" name="Text 25"/>
          <p:cNvSpPr txBox="1"/>
          <p:nvPr/>
        </p:nvSpPr>
        <p:spPr>
          <a:xfrm>
            <a:off x="6812280" y="47823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Multiple Formats</a:t>
            </a:r>
            <a:endParaRPr lang="en-US" sz="1150" dirty="0"/>
          </a:p>
        </p:txBody>
      </p:sp>
      <p:sp>
        <p:nvSpPr>
          <p:cNvPr id="29" name="Shape 26"/>
          <p:cNvSpPr/>
          <p:nvPr/>
        </p:nvSpPr>
        <p:spPr>
          <a:xfrm>
            <a:off x="9079992" y="4782312"/>
            <a:ext cx="2103120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30" name="Text 27"/>
          <p:cNvSpPr txBox="1"/>
          <p:nvPr/>
        </p:nvSpPr>
        <p:spPr>
          <a:xfrm>
            <a:off x="9079992" y="4782312"/>
            <a:ext cx="210312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Large-Scale Data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812280" y="5404104"/>
            <a:ext cx="1431036" cy="457200"/>
          </a:xfrm>
          <a:prstGeom prst="roundRect">
            <a:avLst>
              <a:gd name="adj" fmla="val 50000"/>
            </a:avLst>
          </a:prstGeom>
          <a:solidFill>
            <a:srgbClr val="1C7293">
              <a:alpha val="85000"/>
            </a:srgbClr>
          </a:solidFill>
        </p:spPr>
      </p:sp>
      <p:sp>
        <p:nvSpPr>
          <p:cNvPr id="32" name="Text 29"/>
          <p:cNvSpPr txBox="1"/>
          <p:nvPr/>
        </p:nvSpPr>
        <p:spPr>
          <a:xfrm>
            <a:off x="6812280" y="5404104"/>
            <a:ext cx="1431036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NLP-Ready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 txBox="1"/>
          <p:nvPr/>
        </p:nvSpPr>
        <p:spPr>
          <a:xfrm>
            <a:off x="621792" y="658368"/>
            <a:ext cx="9601200" cy="6858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Methodology Evaluation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338560" y="457200"/>
            <a:ext cx="548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04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6382512"/>
            <a:ext cx="10908792" cy="18288"/>
          </a:xfrm>
          <a:prstGeom prst="rect">
            <a:avLst/>
          </a:prstGeom>
          <a:solidFill>
            <a:srgbClr val="CFE4EE"/>
          </a:solidFill>
        </p:spPr>
      </p:sp>
      <p:sp>
        <p:nvSpPr>
          <p:cNvPr id="6" name="Shape 4"/>
          <p:cNvSpPr/>
          <p:nvPr/>
        </p:nvSpPr>
        <p:spPr>
          <a:xfrm>
            <a:off x="640080" y="1783080"/>
            <a:ext cx="52303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88900" dist="25400" dir="5400000" algn="bl" rotWithShape="0">
              <a:srgbClr val="9AAAB8">
                <a:alpha val="3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2286000"/>
            <a:ext cx="914400" cy="9144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8" name="Image 0" descr="char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97280" y="2487168"/>
            <a:ext cx="512064" cy="512064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2057400" y="2039112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Matching Accuracy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2057400" y="2496312"/>
            <a:ext cx="358444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 matching accuracy and similarity scores across test resumes and job postings.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190488" y="1783080"/>
            <a:ext cx="52303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88900" dist="25400" dir="5400000" algn="bl" rotWithShape="0">
              <a:srgbClr val="9AAAB8">
                <a:alpha val="30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46520" y="228600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3" name="Image 1" descr="sitemap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47688" y="2487168"/>
            <a:ext cx="512064" cy="512064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7607808" y="2039112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Ranking &amp; Duplicates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7607808" y="2496312"/>
            <a:ext cx="358444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Measure ranking quality and duplicate-detection performance on the candidate pool.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640080" y="4023360"/>
            <a:ext cx="52303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88900" dist="25400" dir="5400000" algn="bl" rotWithShape="0">
              <a:srgbClr val="9AAAB8">
                <a:alpha val="3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896112" y="4526280"/>
            <a:ext cx="914400" cy="91440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18" name="Image 2" descr="di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4727448"/>
            <a:ext cx="512064" cy="512064"/>
          </a:xfrm>
          <a:prstGeom prst="rect">
            <a:avLst/>
          </a:prstGeom>
        </p:spPr>
      </p:pic>
      <p:sp>
        <p:nvSpPr>
          <p:cNvPr id="19" name="Text 14"/>
          <p:cNvSpPr txBox="1"/>
          <p:nvPr/>
        </p:nvSpPr>
        <p:spPr>
          <a:xfrm>
            <a:off x="2057400" y="4279392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Baseline Comparison</a:t>
            </a:r>
            <a:endParaRPr lang="en-US" sz="1600" dirty="0"/>
          </a:p>
        </p:txBody>
      </p:sp>
      <p:sp>
        <p:nvSpPr>
          <p:cNvPr id="20" name="Text 15"/>
          <p:cNvSpPr txBox="1"/>
          <p:nvPr/>
        </p:nvSpPr>
        <p:spPr>
          <a:xfrm>
            <a:off x="2057400" y="4736592"/>
            <a:ext cx="358444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Compare results against traditional keyword-based screening methods.</a:t>
            </a:r>
            <a:endParaRPr lang="en-US" sz="1200" dirty="0"/>
          </a:p>
        </p:txBody>
      </p:sp>
      <p:sp>
        <p:nvSpPr>
          <p:cNvPr id="21" name="Shape 16"/>
          <p:cNvSpPr/>
          <p:nvPr/>
        </p:nvSpPr>
        <p:spPr>
          <a:xfrm>
            <a:off x="6190488" y="4023360"/>
            <a:ext cx="5230368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CFE4EE"/>
            </a:solidFill>
            <a:prstDash val="solid"/>
          </a:ln>
          <a:effectLst>
            <a:outerShdw blurRad="88900" dist="25400" dir="5400000" algn="bl" rotWithShape="0">
              <a:srgbClr val="9AAAB8">
                <a:alpha val="30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46520" y="4526280"/>
            <a:ext cx="914400" cy="914400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23" name="Image 3" descr="hash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47688" y="4727448"/>
            <a:ext cx="512064" cy="512064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7607808" y="4279392"/>
            <a:ext cx="3584448" cy="4114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Complexity Analysis</a:t>
            </a:r>
            <a:endParaRPr lang="en-US" sz="1600" dirty="0"/>
          </a:p>
        </p:txBody>
      </p:sp>
      <p:sp>
        <p:nvSpPr>
          <p:cNvPr id="25" name="Text 19"/>
          <p:cNvSpPr txBox="1"/>
          <p:nvPr/>
        </p:nvSpPr>
        <p:spPr>
          <a:xfrm>
            <a:off x="7607808" y="4736592"/>
            <a:ext cx="3584448" cy="10972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22000"/>
              </a:lnSpc>
              <a:buNone/>
            </a:pPr>
            <a:r>
              <a:rPr lang="en-US" sz="1200" dirty="0">
                <a:solidFill>
                  <a:srgbClr val="5A6B79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Analyze time and space complexity of each algorithm used in the pipeline.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0"/>
            <a:ext cx="4327855" cy="6858000"/>
          </a:xfrm>
          <a:prstGeom prst="rect">
            <a:avLst/>
          </a:prstGeom>
          <a:solidFill>
            <a:srgbClr val="21295C"/>
          </a:solidFill>
        </p:spPr>
      </p:sp>
      <p:sp>
        <p:nvSpPr>
          <p:cNvPr id="3" name="Shape 1"/>
          <p:cNvSpPr/>
          <p:nvPr/>
        </p:nvSpPr>
        <p:spPr>
          <a:xfrm>
            <a:off x="9052560" y="5120640"/>
            <a:ext cx="4023360" cy="4023360"/>
          </a:xfrm>
          <a:prstGeom prst="ellipse">
            <a:avLst/>
          </a:prstGeom>
          <a:solidFill>
            <a:srgbClr val="1C7293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9464040" y="2651760"/>
            <a:ext cx="1554480" cy="155448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shar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52660" y="3040380"/>
            <a:ext cx="777240" cy="7772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229600" y="4434840"/>
            <a:ext cx="3566160" cy="10058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Open &amp;</a:t>
            </a:r>
            <a:endParaRPr lang="en-US" sz="2200" dirty="0"/>
          </a:p>
          <a:p>
            <a:pPr marL="0" indent="0" algn="ctr">
              <a:lnSpc>
                <a:spcPct val="10500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Accessible</a:t>
            </a:r>
            <a:endParaRPr lang="en-US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411480"/>
            <a:ext cx="6858000" cy="27432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21792" y="658368"/>
            <a:ext cx="694944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21295C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Dissemination and Accessibility</a:t>
            </a:r>
            <a:endParaRPr lang="en-US" sz="2700" dirty="0"/>
          </a:p>
        </p:txBody>
      </p:sp>
      <p:sp>
        <p:nvSpPr>
          <p:cNvPr id="9" name="Shape 6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0" name="Image 1" descr="robo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1812" y="2016252"/>
            <a:ext cx="283464" cy="283464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417320" y="1847088"/>
            <a:ext cx="6172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User-friendly interface for recruiters and students to run resume screening with ease.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640080" y="2953512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3" name="Image 2" descr="diagram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812" y="3095244"/>
            <a:ext cx="283464" cy="28346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1417320" y="2926080"/>
            <a:ext cx="6172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Can be deployed as a web application or a desktop application depending on need.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40080" y="4032504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6" name="Image 3" descr="github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" y="4174236"/>
            <a:ext cx="283464" cy="283464"/>
          </a:xfrm>
          <a:prstGeom prst="rect">
            <a:avLst/>
          </a:prstGeom>
        </p:spPr>
      </p:pic>
      <p:sp>
        <p:nvSpPr>
          <p:cNvPr id="17" name="Text 11"/>
          <p:cNvSpPr txBox="1"/>
          <p:nvPr/>
        </p:nvSpPr>
        <p:spPr>
          <a:xfrm>
            <a:off x="1417320" y="4005072"/>
            <a:ext cx="6172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Documentation and source code shared through GitHub for transparency and reuse.</a:t>
            </a:r>
            <a:endParaRPr lang="en-US" sz="1350" dirty="0"/>
          </a:p>
        </p:txBody>
      </p:sp>
      <p:sp>
        <p:nvSpPr>
          <p:cNvPr id="18" name="Shape 12"/>
          <p:cNvSpPr/>
          <p:nvPr/>
        </p:nvSpPr>
        <p:spPr>
          <a:xfrm>
            <a:off x="640080" y="5111496"/>
            <a:ext cx="566928" cy="566928"/>
          </a:xfrm>
          <a:prstGeom prst="ellipse">
            <a:avLst/>
          </a:prstGeom>
          <a:solidFill>
            <a:srgbClr val="065A82"/>
          </a:solidFill>
        </p:spPr>
      </p:sp>
      <p:pic>
        <p:nvPicPr>
          <p:cNvPr id="19" name="Image 4" descr="check_wh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1812" y="5253228"/>
            <a:ext cx="283464" cy="283464"/>
          </a:xfrm>
          <a:prstGeom prst="rect">
            <a:avLst/>
          </a:prstGeom>
        </p:spPr>
      </p:pic>
      <p:sp>
        <p:nvSpPr>
          <p:cNvPr id="20" name="Text 13"/>
          <p:cNvSpPr txBox="1"/>
          <p:nvPr/>
        </p:nvSpPr>
        <p:spPr>
          <a:xfrm>
            <a:off x="1417320" y="5084064"/>
            <a:ext cx="6172200" cy="8229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1B243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Easily accessible and extendable for real-world use beyond the classroom.</a:t>
            </a:r>
            <a:endParaRPr lang="en-US" sz="1350" dirty="0"/>
          </a:p>
        </p:txBody>
      </p:sp>
      <p:sp>
        <p:nvSpPr>
          <p:cNvPr id="21" name="Text Box 20"/>
          <p:cNvSpPr txBox="1"/>
          <p:nvPr/>
        </p:nvSpPr>
        <p:spPr>
          <a:xfrm>
            <a:off x="6373495" y="7351395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129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463040" y="-1645920"/>
            <a:ext cx="4937760" cy="4937760"/>
          </a:xfrm>
          <a:prstGeom prst="ellipse">
            <a:avLst/>
          </a:prstGeom>
          <a:solidFill>
            <a:srgbClr val="065A82">
              <a:alpha val="45000"/>
            </a:srgbClr>
          </a:solidFill>
        </p:spPr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1C7293">
              <a:alpha val="45000"/>
            </a:srgbClr>
          </a:solidFill>
        </p:spPr>
      </p:sp>
      <p:sp>
        <p:nvSpPr>
          <p:cNvPr id="4" name="Shape 2"/>
          <p:cNvSpPr/>
          <p:nvPr/>
        </p:nvSpPr>
        <p:spPr>
          <a:xfrm>
            <a:off x="5501488" y="1874520"/>
            <a:ext cx="1188720" cy="1188720"/>
          </a:xfrm>
          <a:prstGeom prst="ellipse">
            <a:avLst/>
          </a:prstGeom>
          <a:solidFill>
            <a:srgbClr val="1C7293"/>
          </a:solidFill>
        </p:spPr>
      </p:sp>
      <p:pic>
        <p:nvPicPr>
          <p:cNvPr id="5" name="Image 0" descr="check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86780" y="2159813"/>
            <a:ext cx="618134" cy="61813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0" y="3246120"/>
            <a:ext cx="12191695" cy="9144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4400" dirty="0"/>
          </a:p>
        </p:txBody>
      </p:sp>
      <p:sp>
        <p:nvSpPr>
          <p:cNvPr id="7" name="Text 4"/>
          <p:cNvSpPr txBox="1"/>
          <p:nvPr/>
        </p:nvSpPr>
        <p:spPr>
          <a:xfrm>
            <a:off x="0" y="4160520"/>
            <a:ext cx="12191695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kern="0" spc="10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Questions &amp; Answers</a:t>
            </a:r>
            <a:endParaRPr lang="en-US" sz="1800" dirty="0"/>
          </a:p>
        </p:txBody>
      </p:sp>
      <p:sp>
        <p:nvSpPr>
          <p:cNvPr id="8" name="Text 5"/>
          <p:cNvSpPr txBox="1"/>
          <p:nvPr/>
        </p:nvSpPr>
        <p:spPr>
          <a:xfrm>
            <a:off x="0" y="6263640"/>
            <a:ext cx="12191695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CFE4EE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AI Resume Screening System  –  DSA Project  –  KLH University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1955</Words>
  <Application>WPS Presentation</Application>
  <PresentationFormat>On-screen Show (16:9)</PresentationFormat>
  <Paragraphs>109</Paragraphs>
  <Slides>6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8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spoorthy reddy</cp:lastModifiedBy>
  <cp:revision>2</cp:revision>
  <dcterms:created xsi:type="dcterms:W3CDTF">2026-09-17T15:43:00Z</dcterms:created>
  <dcterms:modified xsi:type="dcterms:W3CDTF">2026-09-17T15:49:18Z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2470A7BFD7184640904AD7FDF6C419FD_13</vt:lpwstr>
  </property>
  <property fmtid="{D5CDD505-2E9C-101B-9397-08002B2CF9AE}" pid="3" name="KSOProductBuildVer">
    <vt:lpwstr>1033-12.1.0.28485</vt:lpwstr>
  </property>
</Properties>
</file>